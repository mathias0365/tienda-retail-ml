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1" r:id="rId4"/>
    <p:sldId id="258" r:id="rId5"/>
    <p:sldId id="259" r:id="rId6"/>
    <p:sldId id="272" r:id="rId7"/>
    <p:sldId id="260" r:id="rId8"/>
    <p:sldId id="261" r:id="rId9"/>
    <p:sldId id="262" r:id="rId10"/>
    <p:sldId id="274" r:id="rId11"/>
    <p:sldId id="263" r:id="rId12"/>
    <p:sldId id="264" r:id="rId13"/>
    <p:sldId id="265" r:id="rId14"/>
    <p:sldId id="266" r:id="rId15"/>
    <p:sldId id="267" r:id="rId16"/>
    <p:sldId id="268" r:id="rId17"/>
    <p:sldId id="275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6400" b="1" i="0">
                <a:solidFill>
                  <a:srgbClr val="FFFFFF"/>
                </a:solidFill>
                <a:latin typeface="Calibri"/>
              </a:defRPr>
            </a:pPr>
            <a:r>
              <a:rPr lang="en-US" sz="6600" b="1" spc="-394" dirty="0" err="1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Modelado</a:t>
            </a:r>
            <a:r>
              <a:rPr lang="en-US" sz="6600" b="1" spc="-394" dirty="0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Datos y Analytics para Retail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700" b="0" i="0">
                <a:solidFill>
                  <a:srgbClr val="F4F7FB"/>
                </a:solidFill>
                <a:latin typeface="Calibri"/>
              </a:defRPr>
            </a:pPr>
            <a:r>
              <a:t>EDA · PCA · K-Means · Regresión · Clasificación · Dashboard interactivo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911432"/>
            <a:ext cx="10332720" cy="2292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sz="1400" dirty="0" err="1">
                <a:solidFill>
                  <a:srgbClr val="F4F7FB"/>
                </a:solidFill>
                <a:latin typeface="Calibri"/>
              </a:rPr>
              <a:t>Integrantes</a:t>
            </a:r>
            <a:r>
              <a:rPr sz="1400" dirty="0">
                <a:solidFill>
                  <a:srgbClr val="F4F7FB"/>
                </a:solidFill>
                <a:latin typeface="Calibri"/>
              </a:rPr>
              <a:t>:  </a:t>
            </a:r>
            <a:endParaRPr lang="es-ES" sz="1400" dirty="0">
              <a:solidFill>
                <a:srgbClr val="F4F7FB"/>
              </a:solidFill>
              <a:latin typeface="Calibri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F4F7FB"/>
                </a:solidFill>
                <a:latin typeface="Calibri"/>
                <a:sym typeface="Inter Extra-Light"/>
              </a:rPr>
              <a:t>Cabanillas</a:t>
            </a: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</a:t>
            </a:r>
            <a:r>
              <a:rPr lang="en-US" sz="1400" dirty="0" err="1">
                <a:solidFill>
                  <a:srgbClr val="F4F7FB"/>
                </a:solidFill>
                <a:latin typeface="Calibri"/>
                <a:sym typeface="Inter Extra-Light"/>
              </a:rPr>
              <a:t>Yovera</a:t>
            </a: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Roger Arnold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Salazar Cristóbal Jonathan Walter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Solano Torres Anthony Dimas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</a:t>
            </a:r>
            <a:r>
              <a:rPr lang="en-US" sz="1400" dirty="0" err="1">
                <a:solidFill>
                  <a:srgbClr val="F4F7FB"/>
                </a:solidFill>
                <a:latin typeface="Calibri"/>
                <a:sym typeface="Inter Extra-Light"/>
              </a:rPr>
              <a:t>Quispe</a:t>
            </a: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Mendoza </a:t>
            </a:r>
            <a:r>
              <a:rPr lang="en-US" sz="1400" dirty="0" err="1">
                <a:solidFill>
                  <a:srgbClr val="F4F7FB"/>
                </a:solidFill>
                <a:latin typeface="Calibri"/>
                <a:sym typeface="Inter Extra-Light"/>
              </a:rPr>
              <a:t>Josué</a:t>
            </a: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</a:t>
            </a:r>
            <a:r>
              <a:rPr lang="en-US" sz="1400" dirty="0" err="1">
                <a:solidFill>
                  <a:srgbClr val="F4F7FB"/>
                </a:solidFill>
                <a:latin typeface="Calibri"/>
                <a:sym typeface="Inter Extra-Light"/>
              </a:rPr>
              <a:t>Isaías</a:t>
            </a:r>
            <a:endParaRPr lang="en-US" sz="1400" dirty="0">
              <a:solidFill>
                <a:srgbClr val="F4F7FB"/>
              </a:solidFill>
              <a:latin typeface="Calibri"/>
              <a:sym typeface="Inter Extra-Light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1400" dirty="0">
                <a:solidFill>
                  <a:srgbClr val="F4F7FB"/>
                </a:solidFill>
                <a:latin typeface="Calibri"/>
                <a:sym typeface="Inter Extra-Light"/>
              </a:rPr>
              <a:t> Candela Ortiz Sebastian Matias</a:t>
            </a:r>
          </a:p>
          <a:p>
            <a:pPr algn="ctr">
              <a:spcAft>
                <a:spcPts val="60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549079" y="6534530"/>
            <a:ext cx="477175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400" b="0" i="0">
                <a:solidFill>
                  <a:srgbClr val="F4F7FB"/>
                </a:solidFill>
                <a:latin typeface="Calibri"/>
              </a:defRPr>
            </a:pPr>
            <a:r>
              <a:rPr dirty="0" err="1"/>
              <a:t>Curso</a:t>
            </a:r>
            <a:r>
              <a:rPr dirty="0"/>
              <a:t>: </a:t>
            </a:r>
            <a:r>
              <a:rPr dirty="0" err="1"/>
              <a:t>Modelado</a:t>
            </a:r>
            <a:r>
              <a:rPr dirty="0"/>
              <a:t> y </a:t>
            </a:r>
            <a:r>
              <a:rPr dirty="0" err="1"/>
              <a:t>Presentación</a:t>
            </a:r>
            <a:r>
              <a:rPr dirty="0"/>
              <a:t> de Datos  —  </a:t>
            </a:r>
            <a:r>
              <a:rPr dirty="0" err="1"/>
              <a:t>Trabajo</a:t>
            </a:r>
            <a:r>
              <a:rPr dirty="0"/>
              <a:t>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Modelo de datos y analytics: visión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400" b="1" i="1">
                <a:solidFill>
                  <a:srgbClr val="4C78A8"/>
                </a:solidFill>
                <a:latin typeface="Calibri"/>
              </a:defRPr>
            </a:pPr>
            <a:r>
              <a:t>Del dato a la decisión: un solo flujo conecta el análisis con la estrategia del negocio.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481328"/>
            <a:ext cx="1682496" cy="2606040"/>
          </a:xfrm>
          <a:prstGeom prst="round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12064" y="160934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14375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2048256"/>
            <a:ext cx="1536192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1 · Datos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TIENDA RETAIL.csv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76,000 registros · 16 var.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83664" y="2692908"/>
            <a:ext cx="384048" cy="182880"/>
          </a:xfrm>
          <a:prstGeom prst="rightArrow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12848" y="1481328"/>
            <a:ext cx="1682496" cy="260604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468880" y="160934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14375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048256"/>
            <a:ext cx="1536192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2 · Calidad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Tipos de datos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Valores faltantes · Lámina 05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40480" y="2692908"/>
            <a:ext cx="384048" cy="182880"/>
          </a:xfrm>
          <a:prstGeom prst="rightArrow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69664" y="1481328"/>
            <a:ext cx="1682496" cy="2606040"/>
          </a:xfrm>
          <a:prstGeom prst="roundRect">
            <a:avLst/>
          </a:prstGeom>
          <a:solidFill>
            <a:srgbClr val="72B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25696" y="160934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14375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2048256"/>
            <a:ext cx="1536192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3 · EDA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Univariado y bivariado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Outliers y correlaciones · Láminas 07–10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97296" y="2692908"/>
            <a:ext cx="384048" cy="182880"/>
          </a:xfrm>
          <a:prstGeom prst="rightArrow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6480" y="1481328"/>
            <a:ext cx="1682496" cy="260604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160934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14375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048256"/>
            <a:ext cx="1536192" cy="6848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4 · </a:t>
            </a:r>
            <a:r>
              <a:rPr lang="es-ES" dirty="0"/>
              <a:t>ONE - HOT</a:t>
            </a:r>
            <a:endParaRPr dirty="0"/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rPr dirty="0"/>
              <a:t>log1p y </a:t>
            </a:r>
            <a:r>
              <a:rPr dirty="0" err="1"/>
              <a:t>escalado</a:t>
            </a:r>
            <a:r>
              <a:rPr dirty="0"/>
              <a:t> · </a:t>
            </a:r>
            <a:r>
              <a:rPr dirty="0" err="1"/>
              <a:t>Láminas</a:t>
            </a:r>
            <a:r>
              <a:rPr dirty="0"/>
              <a:t> 06 y 11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54112" y="2692908"/>
            <a:ext cx="384048" cy="182880"/>
          </a:xfrm>
          <a:prstGeom prst="rightArrow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83296" y="1481328"/>
            <a:ext cx="1682496" cy="2606040"/>
          </a:xfrm>
          <a:prstGeom prst="round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39328" y="160934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14375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2048256"/>
            <a:ext cx="1536192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5 · Modelado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PCA · K-Means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Regresión · Clasificación · Láminas 12–17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710928" y="2692908"/>
            <a:ext cx="384048" cy="182880"/>
          </a:xfrm>
          <a:prstGeom prst="rightArrow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040112" y="1481328"/>
            <a:ext cx="1682496" cy="2606040"/>
          </a:xfrm>
          <a:prstGeom prst="round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296144" y="1609344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14375F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13264" y="2048256"/>
            <a:ext cx="1536192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6 · Decisión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Dashboard interactivo</a:t>
            </a:r>
          </a:p>
          <a:p>
            <a:pPr algn="l">
              <a:spcAft>
                <a:spcPts val="300"/>
              </a:spcAft>
              <a:defRPr sz="1050" b="0" i="0">
                <a:solidFill>
                  <a:srgbClr val="FFFFFF"/>
                </a:solidFill>
                <a:latin typeface="Calibri"/>
              </a:defRPr>
            </a:pPr>
            <a:r>
              <a:t>Conclusiones y piloto · Láminas 18–20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43484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Del dato a la decisión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·  Cada fase responde una pregunta: ¿dónde está el negocio? (EDA) → ¿cómo agrupar el portafolio? (K-Means) → ¿cuánto se venderá? (regresión) → ¿alta o baja demanda? (clasificación) → ¿qué hacemos? (piloto).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·  Cada salida alimenta la siguiente fase: los datos crudos no deciden; las transformaciones y los modelos convierten el CSV en decisiones de inventario y promoción.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4434840"/>
            <a:ext cx="4617720" cy="21945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69480" y="4434840"/>
            <a:ext cx="82296" cy="219456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45262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4892040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A4A4A"/>
                </a:solidFill>
                <a:latin typeface="Calibri"/>
              </a:defRPr>
            </a:pPr>
            <a:r>
              <a:t>La arquitectura del proyecto no es una lista de técnicas: es un pipeline donde cada modelo se usa para una decisión concreta (clasificar, agrupar, predecir y priorizar).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El problema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" y="1167900"/>
            <a:ext cx="11603736" cy="2802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Una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cadena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de tiendas de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consumo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masivo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está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perdiendo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oportunidades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de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venta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y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clientes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debido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a que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su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catálogo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de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productos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desorganizados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y sus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precios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no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están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optimizados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. Al no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tener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visibilidad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clara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de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qué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marcas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,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ni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de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cómo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varían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los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precios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según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el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tamaño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del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producto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,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el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equipo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comercial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toma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decisiones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a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ciegas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,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fijando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precios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poco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competitivos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y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perdiendo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ventas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frente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 a la </a:t>
            </a:r>
            <a:r>
              <a:rPr lang="en-US" sz="2400" dirty="0" err="1">
                <a:solidFill>
                  <a:srgbClr val="4A4A4A"/>
                </a:solidFill>
                <a:latin typeface="Calibri"/>
                <a:sym typeface="Inter Extra-Light"/>
              </a:rPr>
              <a:t>competencia</a:t>
            </a:r>
            <a:r>
              <a:rPr lang="en-US" sz="2400" dirty="0">
                <a:solidFill>
                  <a:srgbClr val="4A4A4A"/>
                </a:solidFill>
                <a:latin typeface="Calibri"/>
                <a:sym typeface="Inter Extra-Light"/>
              </a:rPr>
              <a:t>.</a:t>
            </a:r>
            <a:r>
              <a:rPr lang="en-US" sz="2400" dirty="0">
                <a:solidFill>
                  <a:srgbClr val="F4F4F4"/>
                </a:solidFill>
                <a:latin typeface="Inter Extra-Light"/>
                <a:ea typeface="Inter Extra-Light"/>
                <a:sym typeface="Inter Extra-Light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70448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600" b="1" i="1">
                <a:solidFill>
                  <a:srgbClr val="FFFFFF"/>
                </a:solidFill>
                <a:latin typeface="Calibri"/>
              </a:defRPr>
            </a:pPr>
            <a:r>
              <a:t>Pregunta guía:  ¿predecir y segmentar mejora las decisiones de inventario, precios y promociones?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Problema y objetivos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rPr lang="es-ES" dirty="0"/>
              <a:t>Desarrollar un análisis exploratorio de datos (EDA) para identificar la correlación entre la elasticidad del precio y la demanda por categoría, utilizando herramientas de visualización para detectar rangos de precios óptimos que maximicen el volumen de ventas.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Objetivos específicos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698480" cy="21852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rPr lang="es-ES" dirty="0"/>
              <a:t>Clasificar los productos por categorías y niveles de inventario para identificar cuáles tienen mayor rotación y cuáles presentan estancamiento comercial.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50" b="0" i="0">
                <a:solidFill>
                  <a:srgbClr val="4A4A4A"/>
                </a:solidFill>
                <a:latin typeface="Calibri"/>
              </a:defRPr>
            </a:pPr>
            <a:endParaRPr lang="es-ES" dirty="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rPr lang="es-ES" dirty="0"/>
              <a:t>Determinar la relación existente entre el Precio y la Demanda mediante diagramas de dispersión, identificando los "puntos dulces" (</a:t>
            </a:r>
            <a:r>
              <a:rPr lang="es-ES" dirty="0" err="1"/>
              <a:t>sweet</a:t>
            </a:r>
            <a:r>
              <a:rPr lang="es-ES" dirty="0"/>
              <a:t> spots) donde el precio maximiza las unidades vendidas.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50" b="0" i="0">
                <a:solidFill>
                  <a:srgbClr val="4A4A4A"/>
                </a:solidFill>
                <a:latin typeface="Calibri"/>
              </a:defRPr>
            </a:pPr>
            <a:endParaRPr lang="es-ES" dirty="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50" b="0" i="0">
                <a:solidFill>
                  <a:srgbClr val="4A4A4A"/>
                </a:solidFill>
                <a:latin typeface="Calibri"/>
              </a:defRPr>
            </a:pPr>
            <a:r>
              <a:rPr lang="es-ES" dirty="0"/>
              <a:t>Analizar el comportamiento de las ventas a través del tiempo (columna Fecha) para detectar temporadas de alta demanda y proponer ajustes de precios dinámicos.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Datos y calidad de la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697480" cy="13258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3200" b="1" i="0">
                <a:solidFill>
                  <a:srgbClr val="F2B01E"/>
                </a:solidFill>
                <a:latin typeface="Calibri"/>
              </a:defRPr>
            </a:pPr>
            <a:r>
              <a:t>76,000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registros de venta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417320"/>
            <a:ext cx="2697480" cy="13258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536192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3200" b="1" i="0">
                <a:solidFill>
                  <a:srgbClr val="F2B01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9456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tiendas (S001–S005)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1417320"/>
            <a:ext cx="2697480" cy="13258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1536192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3200" b="1" i="0">
                <a:solidFill>
                  <a:srgbClr val="F2B01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9456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variables: 9 numéricas y 7 categóricas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89136" y="1417320"/>
            <a:ext cx="2697480" cy="13258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4856" y="1536192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3200" b="1" i="0">
                <a:solidFill>
                  <a:srgbClr val="F2B01E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219456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valores nulos tras la revisión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control de calidad de datos · Objetivo: dejar el dataset limpio y consistente antes del análisis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94576" y="3035810"/>
            <a:ext cx="4709160" cy="180136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94576" y="3035810"/>
            <a:ext cx="82296" cy="1801368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23176" y="3145537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3538729"/>
            <a:ext cx="4343400" cy="3383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El dataset no presenta valores nulos (0% de missings). Se definió un umbral de eliminación (&gt;40% de nulos) y ninguna columna lo superó, por lo que se conservaron las 16 variables. Las 7 variables categóricas se codifican con One-Hot (lámina 8).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264" y="2843784"/>
            <a:ext cx="6035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Variables numéricas (9): Precio, Precios de la competencia, Inventario, Unidades Ordenadas, Descuento, Demanda, etc.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Variables categóricas (7): Categoria, Region, Condiciones Climaticas, Estacionalidad, Store ID, etc.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Transformaciones: Demanda_Log (log1p, evita log(0)) y Variación de Precio por tienda-producto.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Detección de outliers en Precio mediante boxplot (sin eliminarlos: se mantienen por ser reales).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A4AEE10-D857-5278-9BA8-11D7F548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0145"/>
            <a:ext cx="12192000" cy="1937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Tratamiento y procesamiento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detección de outliers + transformaciones (log1p y StandardScaler) · Objetivo: preparar las variables para PCA, segmentación y modelos</a:t>
            </a:r>
          </a:p>
        </p:txBody>
      </p:sp>
      <p:pic>
        <p:nvPicPr>
          <p:cNvPr id="8" name="Picture 7" descr="boxplot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394960" cy="3282476"/>
          </a:xfrm>
          <a:prstGeom prst="rect">
            <a:avLst/>
          </a:prstGeom>
        </p:spPr>
      </p:pic>
      <p:pic>
        <p:nvPicPr>
          <p:cNvPr id="9" name="Picture 8" descr="transform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6035040" cy="31125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800600"/>
            <a:ext cx="6766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1.  Outliers en Precio: detectados con boxplot; NO se eliminan (son precios reales de productos premium).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2.  Demanda_Log = log1p(Demanda): reduce el sesgo derecho de la demanda para la regresión.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3.  StandardScaler (media 0, desv. 1): sobre las variables numéricas; necesario para PCA, K-Means y logística.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4800600"/>
            <a:ext cx="4617720" cy="17830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9480" y="4800600"/>
            <a:ext cx="82296" cy="178308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48920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257800"/>
            <a:ext cx="42062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50" b="0" i="0">
                <a:solidFill>
                  <a:srgbClr val="4A4A4A"/>
                </a:solidFill>
                <a:latin typeface="Calibri"/>
              </a:defRPr>
            </a:pPr>
            <a:r>
              <a:t>Eliminar outliers habría sesgado el análisis: se conservan por ser transacciones reales. log1p + escalado normalizan la información sin perder los casos extremos.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EDA: distribución de la demanda y categorías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histograma + barras (análisis univariado) · Objetivo: conocer la demanda y las categorías más representadas</a:t>
            </a:r>
          </a:p>
        </p:txBody>
      </p:sp>
      <p:pic>
        <p:nvPicPr>
          <p:cNvPr id="8" name="Picture 7" descr="hist_dem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623560" cy="3324758"/>
          </a:xfrm>
          <a:prstGeom prst="rect">
            <a:avLst/>
          </a:prstGeom>
        </p:spPr>
      </p:pic>
      <p:pic>
        <p:nvPicPr>
          <p:cNvPr id="9" name="Picture 8" descr="categor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623560" cy="332475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983480"/>
            <a:ext cx="11567160" cy="1600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983480"/>
            <a:ext cx="82296" cy="160020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0932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201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La demanda se concentra en un rango medio (mediana ≈ 100 uds) con una cola de alta rotación (hasta 430). Groceries domina el catálogo (30,400 registros, 40%) y Electronics es la menor (9,120). La mediana define el punto de corte 'Alta vs Baja demanda' de la clasificación.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EDA: precios vs competencia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boxplot + dispersión (análisis bivariado) · Objetivo: comparar el precio propio contra la competencia y detectar outliers</a:t>
            </a:r>
          </a:p>
        </p:txBody>
      </p:sp>
      <p:pic>
        <p:nvPicPr>
          <p:cNvPr id="8" name="Picture 7" descr="boxplot_pre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486400" cy="3392905"/>
          </a:xfrm>
          <a:prstGeom prst="rect">
            <a:avLst/>
          </a:prstGeom>
        </p:spPr>
      </p:pic>
      <p:pic>
        <p:nvPicPr>
          <p:cNvPr id="9" name="Picture 8" descr="precio_compe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63040"/>
            <a:ext cx="5669280" cy="334852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5029200"/>
            <a:ext cx="11567160" cy="15544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82296" cy="155448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13892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11201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Precios propios muy alineados con la competencia (correlación r = 0.98, estrategia de price matching), aunque con rango propio más amplio. El boxplot mostró outliers de precio reales (productos premium), que NO se eliminan: son información de negocio y se conservan para el análisis.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EDA: correlaciones y efecto promo/epidemia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heatmap de correlación + barras agrupadas · Objetivo: detectar relaciones lineales y medir el efecto combinado promoción × epidemia</a:t>
            </a:r>
          </a:p>
        </p:txBody>
      </p:sp>
      <p:pic>
        <p:nvPicPr>
          <p:cNvPr id="8" name="Picture 7" descr="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623560" cy="3421564"/>
          </a:xfrm>
          <a:prstGeom prst="rect">
            <a:avLst/>
          </a:prstGeom>
        </p:spPr>
      </p:pic>
      <p:pic>
        <p:nvPicPr>
          <p:cNvPr id="9" name="Picture 8" descr="promo_epide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623560" cy="33215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983480"/>
            <a:ext cx="11567160" cy="1600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983480"/>
            <a:ext cx="82296" cy="160020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0932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201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La demanda correlaciona con Unidad Vendida, por eso esta se excluye del modelo para evitar fuga de datos. La promoción suma ≈ +28 uds en promedio, pero la epidemia resta ≈ −43 uds: promocionar en épocas sin epidemia maximiza el retorno.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EDA: demanda a través del tiempo y estacionalidad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Objetivo específico: analizar el comportamiento de las ventas a través del tiempo (columna Fecha).</a:t>
            </a:r>
          </a:p>
        </p:txBody>
      </p:sp>
      <p:pic>
        <p:nvPicPr>
          <p:cNvPr id="8" name="Picture 7" descr="tendencia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463040"/>
            <a:ext cx="5770575" cy="3099816"/>
          </a:xfrm>
          <a:prstGeom prst="rect">
            <a:avLst/>
          </a:prstGeom>
        </p:spPr>
      </p:pic>
      <p:pic>
        <p:nvPicPr>
          <p:cNvPr id="9" name="Picture 8" descr="estaciona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63040"/>
            <a:ext cx="5852160" cy="35543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029200"/>
            <a:ext cx="67208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/>
              <a:t>1.  Pico de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agosto</a:t>
            </a:r>
            <a:r>
              <a:rPr dirty="0"/>
              <a:t> 2023 (~120 </a:t>
            </a:r>
            <a:r>
              <a:rPr dirty="0" err="1"/>
              <a:t>uds</a:t>
            </a:r>
            <a:r>
              <a:rPr dirty="0"/>
              <a:t>) y </a:t>
            </a:r>
            <a:r>
              <a:rPr dirty="0" err="1"/>
              <a:t>valle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febrero</a:t>
            </a:r>
            <a:r>
              <a:rPr dirty="0"/>
              <a:t> 2023 (~71 </a:t>
            </a:r>
            <a:r>
              <a:rPr dirty="0" err="1"/>
              <a:t>uds</a:t>
            </a:r>
            <a:r>
              <a:rPr dirty="0"/>
              <a:t>).</a:t>
            </a:r>
          </a:p>
          <a:p>
            <a:pPr algn="l">
              <a:spcAft>
                <a:spcPts val="7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/>
              <a:t>2.  Summer </a:t>
            </a:r>
            <a:r>
              <a:rPr dirty="0" err="1"/>
              <a:t>lidera</a:t>
            </a:r>
            <a:r>
              <a:rPr dirty="0"/>
              <a:t> la </a:t>
            </a:r>
            <a:r>
              <a:rPr dirty="0" err="1"/>
              <a:t>temporada</a:t>
            </a:r>
            <a:r>
              <a:rPr dirty="0"/>
              <a:t> (~113 </a:t>
            </a:r>
            <a:r>
              <a:rPr dirty="0" err="1"/>
              <a:t>uds</a:t>
            </a:r>
            <a:r>
              <a:rPr dirty="0"/>
              <a:t>); Spring es la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baja</a:t>
            </a:r>
            <a:r>
              <a:rPr dirty="0"/>
              <a:t> (~98 </a:t>
            </a:r>
            <a:r>
              <a:rPr dirty="0" err="1"/>
              <a:t>uds</a:t>
            </a:r>
            <a:r>
              <a:rPr dirty="0"/>
              <a:t>).</a:t>
            </a:r>
          </a:p>
          <a:p>
            <a:pPr algn="l">
              <a:spcAft>
                <a:spcPts val="7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rPr dirty="0"/>
              <a:t>3.  </a:t>
            </a:r>
            <a:r>
              <a:rPr dirty="0" err="1"/>
              <a:t>Epidemia</a:t>
            </a:r>
            <a:r>
              <a:rPr dirty="0"/>
              <a:t>: la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cae</a:t>
            </a:r>
            <a:r>
              <a:rPr dirty="0"/>
              <a:t> ≈38 % (≈70 vs ≈113 </a:t>
            </a:r>
            <a:r>
              <a:rPr dirty="0" err="1"/>
              <a:t>uds</a:t>
            </a:r>
            <a:r>
              <a:rPr dirty="0"/>
              <a:t>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años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5029200"/>
            <a:ext cx="4617720" cy="1600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23760" y="5029200"/>
            <a:ext cx="82296" cy="160020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512064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486400"/>
            <a:ext cx="4206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4A4A4A"/>
                </a:solidFill>
                <a:latin typeface="Calibri"/>
              </a:defRPr>
            </a:pPr>
            <a:r>
              <a:t>El factor tiempo importa: planificar inventario y promociones por temporada (verano = pico) y contemplar escenarios de epidemia mejora el pronóstico de compra.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1920" y="104370"/>
            <a:ext cx="105156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rPr lang="es-ES" dirty="0"/>
              <a:t>ONE-HOT ENCODING para variables categóricas</a:t>
            </a:r>
            <a:endParaRPr lang="es-PE"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OneHotEncoder (drop='first') · Objetivo: convertir texto sin orden en variables numéricas 1/0 para los modelos</a:t>
            </a:r>
          </a:p>
        </p:txBody>
      </p:sp>
      <p:pic>
        <p:nvPicPr>
          <p:cNvPr id="8" name="Picture 7" descr="one_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675120" cy="19655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600200"/>
            <a:ext cx="44805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Los modelos (regresión, logística, RF) requieren entrada numérica: el texto 'Electronics' no se puede multiplicar.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One-Hot crea una columna binaria por categoría (1/0).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drop='first' elimina la primera categoría: evita la multicolinealidad perfecta (trampa de las variables dummy).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Resultado: 17 columnas one-hot + 7 numéricas = matriz de 24 columnas finales.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Con esto la data queda limpia y lista para entrenar.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112" y="3584448"/>
            <a:ext cx="6617208" cy="24505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5112" y="3584448"/>
            <a:ext cx="122794" cy="2450592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3711" y="3694176"/>
            <a:ext cx="6071459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710" y="4164416"/>
            <a:ext cx="6297169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600"/>
              </a:spcAft>
              <a:defRPr sz="1250" b="0" i="0">
                <a:solidFill>
                  <a:srgbClr val="4A4A4A"/>
                </a:solidFill>
                <a:latin typeface="Calibri"/>
              </a:defRPr>
            </a:pPr>
            <a:r>
              <a:rPr dirty="0" err="1"/>
              <a:t>Codificar</a:t>
            </a:r>
            <a:r>
              <a:rPr dirty="0"/>
              <a:t> sin </a:t>
            </a:r>
            <a:r>
              <a:rPr dirty="0" err="1"/>
              <a:t>crear</a:t>
            </a:r>
            <a:r>
              <a:rPr dirty="0"/>
              <a:t> variables </a:t>
            </a:r>
            <a:r>
              <a:rPr dirty="0" err="1"/>
              <a:t>redundantes</a:t>
            </a:r>
            <a:r>
              <a:rPr dirty="0"/>
              <a:t> es clave para </a:t>
            </a:r>
            <a:r>
              <a:rPr dirty="0" err="1"/>
              <a:t>una</a:t>
            </a:r>
            <a:r>
              <a:rPr dirty="0"/>
              <a:t> data </a:t>
            </a:r>
            <a:r>
              <a:rPr dirty="0" err="1"/>
              <a:t>limpia</a:t>
            </a:r>
            <a:r>
              <a:rPr dirty="0"/>
              <a:t>: drop='first' </a:t>
            </a:r>
            <a:r>
              <a:rPr dirty="0" err="1"/>
              <a:t>evita</a:t>
            </a:r>
            <a:r>
              <a:rPr dirty="0"/>
              <a:t> la </a:t>
            </a:r>
            <a:r>
              <a:rPr dirty="0" err="1"/>
              <a:t>colinealidad</a:t>
            </a:r>
            <a:r>
              <a:rPr dirty="0"/>
              <a:t> perfecta y </a:t>
            </a:r>
            <a:r>
              <a:rPr dirty="0" err="1"/>
              <a:t>mantiene</a:t>
            </a:r>
            <a:r>
              <a:rPr dirty="0"/>
              <a:t> la </a:t>
            </a:r>
            <a:r>
              <a:rPr dirty="0" err="1"/>
              <a:t>interpretabilidad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coeficientes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PCA: reducción de dimensionalidad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Análisis de Componentes Principales + varianza explicada · Objetivo: simplificar las variables numéricas en factores clave</a:t>
            </a:r>
          </a:p>
        </p:txBody>
      </p:sp>
      <p:pic>
        <p:nvPicPr>
          <p:cNvPr id="8" name="Picture 7" descr="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623560" cy="3321518"/>
          </a:xfrm>
          <a:prstGeom prst="rect">
            <a:avLst/>
          </a:prstGeom>
        </p:spPr>
      </p:pic>
      <p:pic>
        <p:nvPicPr>
          <p:cNvPr id="9" name="Picture 8" descr="importancia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623560" cy="33215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983480"/>
            <a:ext cx="11567160" cy="1600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983480"/>
            <a:ext cx="82296" cy="160020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0932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201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PC1 actúa como un 'termómetro global' del negocio y explica el 29.9% de la varianza, dominado por Demanda, Unidad Vendida y Unidades Ordenadas. Con todos los componentes se captura el 100%; los primeros resumen casi toda la estructura eliminando redundancias y ruido.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Segmentación: elección de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método del codo + silhouette · Objetivo: justificar con dos criterios el número de clusters k</a:t>
            </a:r>
          </a:p>
        </p:txBody>
      </p:sp>
      <p:pic>
        <p:nvPicPr>
          <p:cNvPr id="8" name="Picture 7" descr="c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623560" cy="3317368"/>
          </a:xfrm>
          <a:prstGeom prst="rect">
            <a:avLst/>
          </a:prstGeom>
        </p:spPr>
      </p:pic>
      <p:pic>
        <p:nvPicPr>
          <p:cNvPr id="9" name="Picture 8" descr="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623560" cy="331736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4983480"/>
            <a:ext cx="11567160" cy="16002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4983480"/>
            <a:ext cx="82296" cy="160020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093208"/>
            <a:ext cx="11201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201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Se probó k = 2 a 8. El silhouette máximo se alcanza en k = 8 (0.268) y el codo se estabiliza a partir de ahí: ocho familias con perfiles accionables, ni demasiado gruesas ni demasiado finas.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Segmentación: resultados K-Means + jerárquico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K-Means (k=8) validado con clustering jerárquico (ward, muestra 1,000) · Objetivo: perfilar segmentos de producto/tienda</a:t>
            </a:r>
          </a:p>
        </p:txBody>
      </p:sp>
      <p:pic>
        <p:nvPicPr>
          <p:cNvPr id="8" name="Picture 7" descr="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212080" cy="3148077"/>
          </a:xfrm>
          <a:prstGeom prst="rect">
            <a:avLst/>
          </a:prstGeom>
        </p:spPr>
      </p:pic>
      <p:pic>
        <p:nvPicPr>
          <p:cNvPr id="9" name="Picture 8" descr="dendr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617720"/>
            <a:ext cx="4983480" cy="2147353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23560" y="1371600"/>
          <a:ext cx="6217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Inventario</a:t>
                      </a:r>
                    </a:p>
                  </a:txBody>
                  <a:tcPr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Ordenadas</a:t>
                      </a:r>
                    </a:p>
                  </a:txBody>
                  <a:tcPr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Demanda</a:t>
                      </a:r>
                    </a:p>
                  </a:txBody>
                  <a:tcPr>
                    <a:solidFill>
                      <a:srgbClr val="14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Sobreinventario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Máxima demanda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421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580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Baja rotación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Alta reposición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23560" y="3794760"/>
            <a:ext cx="6217920" cy="28346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23560" y="3794760"/>
            <a:ext cx="82296" cy="283464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3904488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297680"/>
            <a:ext cx="585216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El jerárquico confirma el mismo corte en k = 8: K-Means y jerárquico coinciden en la estructura. 'Sobreinventario' atasca capital (772 uds, 0.06 órdenes); 'Máxima demanda' es el más rentable (580 ordenadas, 178 demanda). No existe estrategia única: se requiere acción diferenciada por cluster.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Modelo predictivo: Regresión lineal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Regresión Lineal (train 70% / test 30%) · Objetivo: cuantificar el impacto de cada variable en la demanda</a:t>
            </a:r>
          </a:p>
        </p:txBody>
      </p:sp>
      <p:pic>
        <p:nvPicPr>
          <p:cNvPr id="8" name="Picture 7" descr="coef_regr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760720" cy="41910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669280"/>
            <a:ext cx="5669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R² = 0.56  ·  RMSE = 31.1 uds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Promoción +19.6 · Epidemic −35.3 · Muebles −51.8</a:t>
            </a:r>
          </a:p>
        </p:txBody>
      </p:sp>
      <p:pic>
        <p:nvPicPr>
          <p:cNvPr id="10" name="Picture 9" descr="valid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5623560" cy="332151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63640" y="4846320"/>
            <a:ext cx="5623560" cy="17373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4846320"/>
            <a:ext cx="82296" cy="173736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956048"/>
            <a:ext cx="5257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349240"/>
            <a:ext cx="5257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Modelo honesto: se excluyó 'Unidad Vendida' para evitar fuga de datos (equivale a la demanda ya realizada). Explica el 56% de la variabilidad sin inflar su precisión. La promoción impulsa la demanda; la epidemia y la categoría Muebles la castigan.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Clasificación: Alta vs Baja demanda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Técnica: Regresión Logística vs Random Forest (70/30 estratificado) · Objetivo: elegir el mejor clasificador</a:t>
            </a:r>
          </a:p>
        </p:txBody>
      </p:sp>
      <p:pic>
        <p:nvPicPr>
          <p:cNvPr id="8" name="Picture 7" descr="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5212080" cy="3378200"/>
          </a:xfrm>
          <a:prstGeom prst="rect">
            <a:avLst/>
          </a:prstGeom>
        </p:spPr>
      </p:pic>
      <p:pic>
        <p:nvPicPr>
          <p:cNvPr id="9" name="Picture 8" descr="confusion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371600"/>
            <a:ext cx="6217920" cy="356823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4937760"/>
          <a:ext cx="52120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14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Regresión Logística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76.2%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84.8%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0.932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715000" y="5120640"/>
            <a:ext cx="6217920" cy="14630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0" y="5120640"/>
            <a:ext cx="82296" cy="146304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5230368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623560"/>
            <a:ext cx="5852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250" b="0" i="0">
                <a:solidFill>
                  <a:srgbClr val="4A4A4A"/>
                </a:solidFill>
                <a:latin typeface="Calibri"/>
              </a:defRPr>
            </a:pPr>
            <a:r>
              <a:t>Random Forest supera a la Logística en todo (accuracy +8.6 pts, AUC +0.076): captura relaciones no lineales (precio–promoción–inventario). Variables más influyentes: Unidades Ordenadas, Precio, Precios de la competencia, Inventario y Epidemia.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2000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Selección del mejor modelo: criterios y comparación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92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  <a:defRPr sz="1350" b="1" i="1">
                <a:solidFill>
                  <a:srgbClr val="4C78A8"/>
                </a:solidFill>
                <a:latin typeface="Calibri"/>
              </a:defRPr>
            </a:pPr>
            <a:r>
              <a:t>Se compararon 3 modelos sobre el mismo conjunto de prueba (30 % de datos no vistos).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417320"/>
          <a:ext cx="115214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Tarea</a:t>
                      </a:r>
                    </a:p>
                  </a:txBody>
                  <a:tcPr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 clave</a:t>
                      </a:r>
                    </a:p>
                  </a:txBody>
                  <a:tcPr anchor="ctr">
                    <a:solidFill>
                      <a:srgbClr val="1437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Resultado</a:t>
                      </a:r>
                    </a:p>
                  </a:txBody>
                  <a:tcPr anchor="ctr">
                    <a:solidFill>
                      <a:srgbClr val="1437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375F"/>
                          </a:solidFill>
                          <a:latin typeface="Calibri"/>
                        </a:defRPr>
                      </a:pPr>
                      <a:r>
                        <a:t>Regresión Lineal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Predecir cuánto se venderá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R² · RMSE · MAE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0.56 · 31 · 24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375F"/>
                          </a:solidFill>
                          <a:latin typeface="Calibri"/>
                        </a:defRPr>
                      </a:pPr>
                      <a:r>
                        <a:t>Regresión Logística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Clasificar Alta vs Baja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Accuracy · AUC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76.2 % · 0.856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375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Clasificar Alta vs Baja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Accuracy · AUC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A4A4A"/>
                          </a:solidFill>
                          <a:latin typeface="Calibri"/>
                        </a:defRPr>
                      </a:pPr>
                      <a:r>
                        <a:t>84.8 % · 0.932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474720"/>
            <a:ext cx="67665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Criterios aplicados (en orden de prioridad)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1.  Métrica objetivo en datos no vistos (test 30 %): R²/RMSE para regresión; accuracy/AUC para clasificación.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2.  Interpretabilidad: la audiencia es de negocio → se prefieren modelos explicables (coeficientes) siempre que el desempeño lo permita.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3.  Complejidad y sobreajuste: RF gana en precisión, pero es una caja negra; se usa para predecir, no para explicar.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4A4A4A"/>
                </a:solidFill>
                <a:latin typeface="Calibri"/>
              </a:defRPr>
            </a:pPr>
            <a:r>
              <a:t>4.  Ajuste a la pregunta: no existe “un mejor modelo” global; cuánto → regresión; qué clase → clasificación.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3474720"/>
            <a:ext cx="4617720" cy="30175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69480" y="3474720"/>
            <a:ext cx="82296" cy="3017520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35661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4375F"/>
                </a:solidFill>
                <a:latin typeface="Calibri"/>
              </a:defRPr>
            </a:pPr>
            <a:r>
              <a:t>Hallazgo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3931920"/>
            <a:ext cx="4206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  <a:defRPr sz="1250" b="0" i="0">
                <a:solidFill>
                  <a:srgbClr val="4A4A4A"/>
                </a:solidFill>
                <a:latin typeface="Calibri"/>
              </a:defRPr>
            </a:pPr>
            <a:r>
              <a:t>Para predecir: Random Forest (84.8 % accuracy, AUC 0.932) supera a la logística (76.2 %, AUC 0.856). Para explicar el negocio: regresiones con coeficientes interpretables. El mejor modelo depende de la decisión que se deba tomar.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640080" cy="10515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2704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F2B01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63040"/>
            <a:ext cx="9784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Datos y EDA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Sin nulos, precios alineados con la competencia (r = 0.98) y demanda concentrada en la mediana (100 uds).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51760"/>
            <a:ext cx="640080" cy="10515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F2B01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97480"/>
            <a:ext cx="9784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Estructura comercial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K-Means (k=8 validado por silhouette y jerárquico) reveló 'Sobreinventario' (capital atascado) y 'Máxima demanda' (el más rentable).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86200"/>
            <a:ext cx="640080" cy="10515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9592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F2B01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931920"/>
            <a:ext cx="9784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Modelo elegido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Random Forest es el mejor predictor (84.8% accuracy, AUC 0.932); la regresión honesta explica el 56% de la demanda.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20640"/>
            <a:ext cx="640080" cy="10515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8"/>
            <a:ext cx="640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F2B01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166360"/>
            <a:ext cx="9784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375F"/>
                </a:solidFill>
                <a:latin typeface="Calibri"/>
              </a:defRPr>
            </a:pPr>
            <a:r>
              <a:t>Decisiones accionables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Promocionar sin epidemia (+28 uds) y evitar descuentos agresivos en muebles (mayor impacto negativo).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Recomendaciones y fase piloto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000" b="1">
                <a:solidFill>
                  <a:srgbClr val="F2B01E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3657600" cy="521208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219456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400" b="0" i="1">
                <a:solidFill>
                  <a:srgbClr val="FFFFFF"/>
                </a:solidFill>
                <a:latin typeface="Calibri"/>
              </a:defRPr>
            </a:pPr>
            <a:r>
              <a:rPr dirty="0"/>
              <a:t>Dashboard </a:t>
            </a:r>
            <a:r>
              <a:rPr dirty="0" err="1"/>
              <a:t>interactivo</a:t>
            </a:r>
            <a:r>
              <a:rPr dirty="0"/>
              <a:t>: la </a:t>
            </a:r>
            <a:r>
              <a:rPr dirty="0" err="1"/>
              <a:t>historia</a:t>
            </a:r>
            <a:r>
              <a:rPr dirty="0"/>
              <a:t> </a:t>
            </a:r>
            <a:r>
              <a:rPr dirty="0" err="1"/>
              <a:t>completa</a:t>
            </a:r>
            <a:r>
              <a:rPr dirty="0"/>
              <a:t> de la </a:t>
            </a:r>
            <a:r>
              <a:rPr dirty="0" err="1"/>
              <a:t>demanda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58200" y="329184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200" b="0" i="0">
                <a:solidFill>
                  <a:srgbClr val="F4F7FB"/>
                </a:solidFill>
                <a:latin typeface="Calibri"/>
              </a:defRPr>
            </a:pPr>
            <a:r>
              <a:rPr dirty="0"/>
              <a:t>python app_retail.py</a:t>
            </a:r>
          </a:p>
          <a:p>
            <a:pPr algn="ctr">
              <a:spcAft>
                <a:spcPts val="600"/>
              </a:spcAft>
              <a:defRPr sz="1200" b="0" i="0">
                <a:solidFill>
                  <a:srgbClr val="F4F7FB"/>
                </a:solidFill>
                <a:latin typeface="Calibri"/>
              </a:defRPr>
            </a:pPr>
            <a:r>
              <a:rPr dirty="0"/>
              <a:t>http://127.0.0.1:8050</a:t>
            </a:r>
          </a:p>
          <a:p>
            <a:pPr algn="ctr">
              <a:spcAft>
                <a:spcPts val="600"/>
              </a:spcAft>
              <a:defRPr sz="1100" b="0" i="0">
                <a:solidFill>
                  <a:srgbClr val="4C78A8"/>
                </a:solidFill>
                <a:latin typeface="Calibri"/>
              </a:defRPr>
            </a:pPr>
            <a:r>
              <a:rPr dirty="0"/>
              <a:t>KPIs · </a:t>
            </a:r>
            <a:r>
              <a:rPr dirty="0" err="1"/>
              <a:t>hallazgos</a:t>
            </a:r>
            <a:r>
              <a:rPr dirty="0"/>
              <a:t> · </a:t>
            </a:r>
            <a:r>
              <a:rPr dirty="0" err="1"/>
              <a:t>simulador</a:t>
            </a:r>
            <a:r>
              <a:rPr dirty="0"/>
              <a:t> de </a:t>
            </a:r>
            <a:r>
              <a:rPr dirty="0" err="1"/>
              <a:t>escenarios</a:t>
            </a:r>
            <a:r>
              <a:rPr dirty="0"/>
              <a:t> (IA) · </a:t>
            </a:r>
            <a:r>
              <a:rPr dirty="0" err="1"/>
              <a:t>validación</a:t>
            </a:r>
            <a:r>
              <a:rPr dirty="0"/>
              <a:t> del </a:t>
            </a:r>
            <a:r>
              <a:rPr dirty="0" err="1"/>
              <a:t>modelo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31520" y="114300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14375F"/>
                </a:solidFill>
                <a:latin typeface="Calibri"/>
              </a:defRPr>
            </a:pPr>
            <a:r>
              <a:t>Acciones recomendadas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7223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Liberar capital del cluster 'Sobreinventario' (liquidaciones / devoluciones a proveedores).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Focalizar promociones en épocas sin epidemia para maximizar el retorno.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Usar Random Forest para predecir demanda y generar alertas tempranas de reabastecimiento.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Evitar descuentos agresivos en muebles: no responden a promociones.</a:t>
            </a:r>
          </a:p>
          <a:p>
            <a:pPr algn="l">
              <a:spcAft>
                <a:spcPts val="600"/>
              </a:spcAft>
              <a:defRPr sz="1400" b="0" i="0">
                <a:solidFill>
                  <a:srgbClr val="4A4A4A"/>
                </a:solidFill>
                <a:latin typeface="Calibri"/>
              </a:defRPr>
            </a:pPr>
            <a:r>
              <a:t>·  Revisar reposición: 62% de los registros no tienen orden, incluso con demanda alta.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7223760" cy="233172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14375F"/>
                </a:solidFill>
                <a:latin typeface="Calibri"/>
              </a:defRPr>
            </a:pPr>
            <a:r>
              <a:t>Plan de fase piloto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·  Implementar el modelo (Random Forest) en 2 tiendas durante 1 trimestre.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·  KPI de éxito: reducción de sobreinventario y precisión de predicción (RMSE / accuracy).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·  Medir el impacto de las promociones focalizadas antes del despliegue total.</a:t>
            </a:r>
          </a:p>
          <a:p>
            <a:pPr algn="l">
              <a:spcAft>
                <a:spcPts val="600"/>
              </a:spcAft>
              <a:defRPr sz="1350" b="0" i="0">
                <a:solidFill>
                  <a:srgbClr val="4A4A4A"/>
                </a:solidFill>
                <a:latin typeface="Calibri"/>
              </a:defRPr>
            </a:pPr>
            <a:r>
              <a:t>·  Retroalimentar el modelo con los datos del piloto para su recalibración.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2271</Words>
  <Application>Microsoft Office PowerPoint</Application>
  <PresentationFormat>Panorámica</PresentationFormat>
  <Paragraphs>225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Inter Extra-Light</vt:lpstr>
      <vt:lpstr>Poppins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SM73046083 (Candela Ortiz, Sebastian Matias)</cp:lastModifiedBy>
  <cp:revision>5</cp:revision>
  <dcterms:created xsi:type="dcterms:W3CDTF">2013-01-27T09:14:16Z</dcterms:created>
  <dcterms:modified xsi:type="dcterms:W3CDTF">2026-08-13T21:12:05Z</dcterms:modified>
  <cp:category/>
</cp:coreProperties>
</file>